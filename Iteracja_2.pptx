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351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203200" y="0"/>
            <a:ext cx="3778250" cy="6858001"/>
            <a:chOff x="203200" y="0"/>
            <a:chExt cx="3778250" cy="6858001"/>
          </a:xfrm>
        </p:grpSpPr>
        <p:sp>
          <p:nvSpPr>
            <p:cNvPr id="14" name="Freeform 6"/>
            <p:cNvSpPr/>
            <p:nvPr/>
          </p:nvSpPr>
          <p:spPr bwMode="auto">
            <a:xfrm>
              <a:off x="641350" y="0"/>
              <a:ext cx="1365250" cy="3971925"/>
            </a:xfrm>
            <a:custGeom>
              <a:avLst/>
              <a:gdLst/>
              <a:ahLst/>
              <a:cxnLst/>
              <a:rect l="0" t="0" r="r" b="b"/>
              <a:pathLst>
                <a:path w="860" h="2502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pl-PL"/>
            </a:p>
          </p:txBody>
        </p:sp>
        <p:sp>
          <p:nvSpPr>
            <p:cNvPr id="15" name="Freeform 7"/>
            <p:cNvSpPr/>
            <p:nvPr/>
          </p:nvSpPr>
          <p:spPr bwMode="auto">
            <a:xfrm>
              <a:off x="203200" y="0"/>
              <a:ext cx="1336675" cy="3862388"/>
            </a:xfrm>
            <a:custGeom>
              <a:avLst/>
              <a:gdLst/>
              <a:ahLst/>
              <a:cxnLst/>
              <a:rect l="0" t="0" r="r" b="b"/>
              <a:pathLst>
                <a:path w="842" h="2433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pl-PL"/>
            </a:p>
          </p:txBody>
        </p:sp>
        <p:sp>
          <p:nvSpPr>
            <p:cNvPr id="16" name="Freeform 8"/>
            <p:cNvSpPr/>
            <p:nvPr/>
          </p:nvSpPr>
          <p:spPr bwMode="auto">
            <a:xfrm>
              <a:off x="207963" y="3776663"/>
              <a:ext cx="1936750" cy="3081338"/>
            </a:xfrm>
            <a:custGeom>
              <a:avLst/>
              <a:gdLst/>
              <a:ahLst/>
              <a:cxnLst/>
              <a:rect l="0" t="0" r="r" b="b"/>
              <a:pathLst>
                <a:path w="1220" h="1941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pl-PL"/>
            </a:p>
          </p:txBody>
        </p:sp>
        <p:sp>
          <p:nvSpPr>
            <p:cNvPr id="20" name="Freeform 9"/>
            <p:cNvSpPr/>
            <p:nvPr/>
          </p:nvSpPr>
          <p:spPr bwMode="auto">
            <a:xfrm>
              <a:off x="646113" y="3886200"/>
              <a:ext cx="2373313" cy="2971800"/>
            </a:xfrm>
            <a:custGeom>
              <a:avLst/>
              <a:gdLst/>
              <a:ahLst/>
              <a:cxnLst/>
              <a:rect l="0" t="0" r="r" b="b"/>
              <a:pathLst>
                <a:path w="1495" h="1872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pl-PL"/>
            </a:p>
          </p:txBody>
        </p:sp>
        <p:sp>
          <p:nvSpPr>
            <p:cNvPr id="21" name="Freeform 10"/>
            <p:cNvSpPr/>
            <p:nvPr/>
          </p:nvSpPr>
          <p:spPr bwMode="auto">
            <a:xfrm>
              <a:off x="641350" y="3881438"/>
              <a:ext cx="3340100" cy="2976563"/>
            </a:xfrm>
            <a:custGeom>
              <a:avLst/>
              <a:gdLst/>
              <a:ahLst/>
              <a:cxnLst/>
              <a:rect l="0" t="0" r="r" b="b"/>
              <a:pathLst>
                <a:path w="2104" h="1875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pl-PL"/>
            </a:p>
          </p:txBody>
        </p:sp>
        <p:sp>
          <p:nvSpPr>
            <p:cNvPr id="22" name="Freeform 11"/>
            <p:cNvSpPr/>
            <p:nvPr/>
          </p:nvSpPr>
          <p:spPr bwMode="auto">
            <a:xfrm>
              <a:off x="203200" y="3771900"/>
              <a:ext cx="2660650" cy="3086100"/>
            </a:xfrm>
            <a:custGeom>
              <a:avLst/>
              <a:gdLst/>
              <a:ahLst/>
              <a:cxnLst/>
              <a:rect l="0" t="0" r="r" b="b"/>
              <a:pathLst>
                <a:path w="1676" h="1944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pl-P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9673" y="914401"/>
            <a:ext cx="6947127" cy="3488266"/>
          </a:xfrm>
        </p:spPr>
        <p:txBody>
          <a:bodyPr anchor="b">
            <a:normAutofit/>
          </a:bodyPr>
          <a:lstStyle>
            <a:lvl1pPr algn="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238" y="4402666"/>
            <a:ext cx="5762563" cy="1364531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25773" y="6117336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23733" y="6117336"/>
            <a:ext cx="360943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5320" y="6117336"/>
            <a:ext cx="41148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Freeform 12"/>
          <p:cNvSpPr/>
          <p:nvPr/>
        </p:nvSpPr>
        <p:spPr bwMode="auto">
          <a:xfrm>
            <a:off x="203200" y="3771900"/>
            <a:ext cx="361950" cy="90488"/>
          </a:xfrm>
          <a:custGeom>
            <a:avLst/>
            <a:gdLst/>
            <a:ahLst/>
            <a:cxnLst/>
            <a:rect l="0" t="0" r="r" b="b"/>
            <a:pathLst>
              <a:path w="228" h="57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pl-PL"/>
          </a:p>
        </p:txBody>
      </p:sp>
      <p:sp>
        <p:nvSpPr>
          <p:cNvPr id="24" name="Freeform 13"/>
          <p:cNvSpPr/>
          <p:nvPr/>
        </p:nvSpPr>
        <p:spPr bwMode="auto">
          <a:xfrm>
            <a:off x="560388" y="3867150"/>
            <a:ext cx="61913" cy="80963"/>
          </a:xfrm>
          <a:custGeom>
            <a:avLst/>
            <a:gdLst/>
            <a:ahLst/>
            <a:cxnLst/>
            <a:rect l="0" t="0" r="r" b="b"/>
            <a:pathLst>
              <a:path w="39" h="51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60953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667000"/>
            <a:ext cx="7704667" cy="333281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44329" y="6108173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72647" y="6108173"/>
            <a:ext cx="531451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58967" y="6108173"/>
            <a:ext cx="42783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883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6995" y="2666998"/>
            <a:ext cx="6699805" cy="2360071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998" y="5027070"/>
            <a:ext cx="6699802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3317" y="6116070"/>
            <a:ext cx="41348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642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685801"/>
            <a:ext cx="7704667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2133" y="2667000"/>
            <a:ext cx="3739896" cy="336867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46904" y="2667000"/>
            <a:ext cx="3739896" cy="334682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566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9481" y="2658533"/>
            <a:ext cx="345629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3523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61710" y="2667000"/>
            <a:ext cx="3467806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57266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8969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568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947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1600200"/>
            <a:ext cx="2662534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7553" y="685800"/>
            <a:ext cx="4681962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4" y="2971800"/>
            <a:ext cx="2662534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20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2332" y="1752599"/>
            <a:ext cx="4070679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97495" y="914400"/>
            <a:ext cx="2461371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2332" y="3124199"/>
            <a:ext cx="4070679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746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3" y="4732865"/>
            <a:ext cx="751599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9975" y="932112"/>
            <a:ext cx="6171065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3" y="5299603"/>
            <a:ext cx="751599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509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685800"/>
            <a:ext cx="751599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217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598235" y="3428999"/>
            <a:ext cx="6631128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3" y="4343400"/>
            <a:ext cx="751599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1961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3308581"/>
            <a:ext cx="751598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7381"/>
            <a:ext cx="751599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3663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5" y="3886200"/>
            <a:ext cx="751599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5200"/>
            <a:ext cx="751599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6843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685801"/>
            <a:ext cx="7515991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4" y="3505200"/>
            <a:ext cx="7515992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0348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8740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01393" y="685800"/>
            <a:ext cx="1328123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524" y="685800"/>
            <a:ext cx="6016373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6817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0"/>
            <a:ext cx="2132013" cy="6858001"/>
            <a:chOff x="0" y="0"/>
            <a:chExt cx="2132013" cy="6858001"/>
          </a:xfrm>
        </p:grpSpPr>
        <p:sp>
          <p:nvSpPr>
            <p:cNvPr id="15" name="Freeform 6"/>
            <p:cNvSpPr/>
            <p:nvPr/>
          </p:nvSpPr>
          <p:spPr bwMode="auto">
            <a:xfrm>
              <a:off x="0" y="0"/>
              <a:ext cx="1073150" cy="5291138"/>
            </a:xfrm>
            <a:custGeom>
              <a:avLst/>
              <a:gdLst/>
              <a:ahLst/>
              <a:cxnLst/>
              <a:rect l="0" t="0" r="r" b="b"/>
              <a:pathLst>
                <a:path w="676" h="3333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pl-PL"/>
            </a:p>
          </p:txBody>
        </p:sp>
        <p:sp>
          <p:nvSpPr>
            <p:cNvPr id="16" name="Freeform 7"/>
            <p:cNvSpPr/>
            <p:nvPr/>
          </p:nvSpPr>
          <p:spPr bwMode="auto">
            <a:xfrm>
              <a:off x="0" y="0"/>
              <a:ext cx="758825" cy="4624388"/>
            </a:xfrm>
            <a:custGeom>
              <a:avLst/>
              <a:gdLst/>
              <a:ahLst/>
              <a:cxnLst/>
              <a:rect l="0" t="0" r="r" b="b"/>
              <a:pathLst>
                <a:path w="478" h="2913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pl-PL"/>
            </a:p>
          </p:txBody>
        </p:sp>
        <p:sp>
          <p:nvSpPr>
            <p:cNvPr id="17" name="Freeform 8"/>
            <p:cNvSpPr/>
            <p:nvPr/>
          </p:nvSpPr>
          <p:spPr bwMode="auto">
            <a:xfrm>
              <a:off x="0" y="5662613"/>
              <a:ext cx="906463" cy="1195388"/>
            </a:xfrm>
            <a:custGeom>
              <a:avLst/>
              <a:gdLst/>
              <a:ahLst/>
              <a:cxnLst/>
              <a:rect l="0" t="0" r="r" b="b"/>
              <a:pathLst>
                <a:path w="571" h="753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pl-PL"/>
            </a:p>
          </p:txBody>
        </p:sp>
        <p:sp>
          <p:nvSpPr>
            <p:cNvPr id="18" name="Freeform 9"/>
            <p:cNvSpPr/>
            <p:nvPr/>
          </p:nvSpPr>
          <p:spPr bwMode="auto">
            <a:xfrm>
              <a:off x="0" y="5295900"/>
              <a:ext cx="1487488" cy="1562100"/>
            </a:xfrm>
            <a:custGeom>
              <a:avLst/>
              <a:gdLst/>
              <a:ahLst/>
              <a:cxnLst/>
              <a:rect l="0" t="0" r="r" b="b"/>
              <a:pathLst>
                <a:path w="937" h="984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pl-PL"/>
            </a:p>
          </p:txBody>
        </p:sp>
        <p:sp>
          <p:nvSpPr>
            <p:cNvPr id="19" name="Freeform 10"/>
            <p:cNvSpPr/>
            <p:nvPr/>
          </p:nvSpPr>
          <p:spPr bwMode="auto">
            <a:xfrm>
              <a:off x="0" y="5257800"/>
              <a:ext cx="2132013" cy="1600200"/>
            </a:xfrm>
            <a:custGeom>
              <a:avLst/>
              <a:gdLst/>
              <a:ahLst/>
              <a:cxnLst/>
              <a:rect l="0" t="0" r="r" b="b"/>
              <a:pathLst>
                <a:path w="1343" h="1008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pl-PL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0" y="5357813"/>
              <a:ext cx="1377950" cy="1500188"/>
            </a:xfrm>
            <a:custGeom>
              <a:avLst/>
              <a:gdLst/>
              <a:ahLst/>
              <a:cxnLst/>
              <a:rect l="0" t="0" r="r" b="b"/>
              <a:pathLst>
                <a:path w="868" h="945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pl-P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134" y="2667000"/>
            <a:ext cx="7704666" cy="33569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8679" y="6116070"/>
            <a:ext cx="8574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86997" y="6116070"/>
            <a:ext cx="5314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73317" y="6116070"/>
            <a:ext cx="4134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731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4751" y="914401"/>
            <a:ext cx="7512050" cy="3488266"/>
          </a:xfrm>
        </p:spPr>
        <p:txBody>
          <a:bodyPr/>
          <a:lstStyle/>
          <a:p>
            <a:r>
              <a:rPr dirty="0" err="1"/>
              <a:t>Rozbudowa</a:t>
            </a:r>
            <a:r>
              <a:rPr dirty="0"/>
              <a:t> </a:t>
            </a:r>
            <a:r>
              <a:rPr dirty="0" err="1"/>
              <a:t>Systemu</a:t>
            </a:r>
            <a:r>
              <a:rPr dirty="0"/>
              <a:t> </a:t>
            </a:r>
            <a:r>
              <a:rPr dirty="0" err="1"/>
              <a:t>Rekomendacji</a:t>
            </a:r>
            <a:r>
              <a:rPr lang="pl-PL" dirty="0"/>
              <a:t> Muzycznych Spotify</a:t>
            </a:r>
            <a:r>
              <a:rPr dirty="0"/>
              <a:t> (</a:t>
            </a:r>
            <a:r>
              <a:rPr dirty="0" err="1"/>
              <a:t>Iteracja</a:t>
            </a:r>
            <a:r>
              <a:rPr dirty="0"/>
              <a:t> 2)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97672" y="4402666"/>
            <a:ext cx="4289129" cy="1364531"/>
          </a:xfrm>
        </p:spPr>
        <p:txBody>
          <a:bodyPr>
            <a:normAutofit/>
          </a:bodyPr>
          <a:lstStyle/>
          <a:p>
            <a:r>
              <a:rPr lang="pl-PL" dirty="0"/>
              <a:t>Eksploracja danych - projekt</a:t>
            </a:r>
            <a:endParaRPr dirty="0"/>
          </a:p>
          <a:p>
            <a:r>
              <a:rPr dirty="0" err="1"/>
              <a:t>Autorzy</a:t>
            </a:r>
            <a:r>
              <a:rPr dirty="0"/>
              <a:t>:</a:t>
            </a:r>
            <a:r>
              <a:rPr lang="pl-PL" dirty="0"/>
              <a:t> M. Andrzejewski , W. Kaczmarek, </a:t>
            </a:r>
            <a:r>
              <a:rPr dirty="0"/>
              <a:t>J. Nowakowska, S. </a:t>
            </a:r>
            <a:r>
              <a:rPr dirty="0" err="1"/>
              <a:t>Stefański</a:t>
            </a:r>
            <a:r>
              <a:rPr lang="pl-PL" dirty="0"/>
              <a:t>, S. Wróbel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Dodatkowe dane z MusicBrainz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2" y="2270833"/>
            <a:ext cx="7704667" cy="3332816"/>
          </a:xfrm>
        </p:spPr>
        <p:txBody>
          <a:bodyPr>
            <a:noAutofit/>
          </a:bodyPr>
          <a:lstStyle/>
          <a:p>
            <a:r>
              <a:rPr dirty="0"/>
              <a:t>Problem: </a:t>
            </a:r>
            <a:r>
              <a:rPr dirty="0" err="1"/>
              <a:t>Restrykcyjne</a:t>
            </a:r>
            <a:r>
              <a:rPr dirty="0"/>
              <a:t> </a:t>
            </a:r>
            <a:r>
              <a:rPr dirty="0" err="1"/>
              <a:t>limity</a:t>
            </a:r>
            <a:r>
              <a:rPr dirty="0"/>
              <a:t> API </a:t>
            </a:r>
            <a:r>
              <a:rPr dirty="0" err="1"/>
              <a:t>MusicBrainz</a:t>
            </a:r>
            <a:r>
              <a:rPr dirty="0"/>
              <a:t> (1 zap/</a:t>
            </a:r>
            <a:r>
              <a:rPr dirty="0" err="1"/>
              <a:t>sekundę</a:t>
            </a:r>
            <a:r>
              <a:rPr dirty="0"/>
              <a:t>) </a:t>
            </a:r>
            <a:r>
              <a:rPr dirty="0" err="1"/>
              <a:t>uniemożliwiały</a:t>
            </a:r>
            <a:r>
              <a:rPr dirty="0"/>
              <a:t> </a:t>
            </a:r>
            <a:r>
              <a:rPr dirty="0" err="1"/>
              <a:t>pobieranie</a:t>
            </a:r>
            <a:r>
              <a:rPr dirty="0"/>
              <a:t> </a:t>
            </a:r>
            <a:r>
              <a:rPr dirty="0" err="1"/>
              <a:t>danych</a:t>
            </a:r>
            <a:r>
              <a:rPr dirty="0"/>
              <a:t> </a:t>
            </a:r>
            <a:r>
              <a:rPr lang="pl-PL" dirty="0"/>
              <a:t>na bieżąco </a:t>
            </a:r>
            <a:r>
              <a:rPr dirty="0" err="1"/>
              <a:t>dla</a:t>
            </a:r>
            <a:r>
              <a:rPr dirty="0"/>
              <a:t> 114 </a:t>
            </a:r>
            <a:r>
              <a:rPr dirty="0" err="1"/>
              <a:t>tys</a:t>
            </a:r>
            <a:r>
              <a:rPr dirty="0"/>
              <a:t>. </a:t>
            </a:r>
            <a:r>
              <a:rPr dirty="0" err="1"/>
              <a:t>utworów</a:t>
            </a:r>
            <a:r>
              <a:rPr dirty="0"/>
              <a:t>.</a:t>
            </a:r>
          </a:p>
          <a:p>
            <a:r>
              <a:rPr dirty="0" err="1"/>
              <a:t>Rozwiązanie</a:t>
            </a:r>
            <a:r>
              <a:rPr dirty="0"/>
              <a:t>: </a:t>
            </a:r>
            <a:r>
              <a:rPr lang="pl-PL" dirty="0"/>
              <a:t>Osobny skrypt Python, który jednorazowo dodaje informacje o kraju do zbioru z Kaggle na podstawie pobranych baz z MusicBrainz</a:t>
            </a:r>
            <a:endParaRPr dirty="0"/>
          </a:p>
          <a:p>
            <a:r>
              <a:rPr dirty="0" err="1"/>
              <a:t>Transformacja</a:t>
            </a:r>
            <a:r>
              <a:rPr lang="pl-PL" dirty="0"/>
              <a:t>: Łączenie </a:t>
            </a:r>
            <a:r>
              <a:rPr dirty="0"/>
              <a:t>(Left Join) </a:t>
            </a:r>
            <a:r>
              <a:rPr dirty="0" err="1"/>
              <a:t>lokalnej</a:t>
            </a:r>
            <a:r>
              <a:rPr dirty="0"/>
              <a:t> </a:t>
            </a:r>
            <a:r>
              <a:rPr dirty="0" err="1"/>
              <a:t>bazy</a:t>
            </a:r>
            <a:r>
              <a:rPr dirty="0"/>
              <a:t> </a:t>
            </a:r>
            <a:r>
              <a:rPr dirty="0" err="1"/>
              <a:t>artystów</a:t>
            </a:r>
            <a:r>
              <a:rPr dirty="0"/>
              <a:t> z </a:t>
            </a:r>
            <a:r>
              <a:rPr dirty="0" err="1"/>
              <a:t>przypisanymi</a:t>
            </a:r>
            <a:r>
              <a:rPr dirty="0"/>
              <a:t> </a:t>
            </a:r>
            <a:r>
              <a:rPr dirty="0" err="1"/>
              <a:t>kodami</a:t>
            </a:r>
            <a:r>
              <a:rPr dirty="0"/>
              <a:t> </a:t>
            </a:r>
            <a:r>
              <a:rPr dirty="0" err="1"/>
              <a:t>krajów</a:t>
            </a:r>
            <a:r>
              <a:rPr dirty="0"/>
              <a:t> </a:t>
            </a:r>
            <a:r>
              <a:rPr dirty="0" err="1"/>
              <a:t>przed</a:t>
            </a:r>
            <a:r>
              <a:rPr dirty="0"/>
              <a:t> </a:t>
            </a:r>
            <a:r>
              <a:rPr dirty="0" err="1"/>
              <a:t>etapem</a:t>
            </a:r>
            <a:r>
              <a:rPr dirty="0"/>
              <a:t> </a:t>
            </a:r>
            <a:r>
              <a:rPr dirty="0" err="1"/>
              <a:t>uczenia</a:t>
            </a:r>
            <a:r>
              <a:rPr dirty="0"/>
              <a:t> </a:t>
            </a:r>
            <a:r>
              <a:rPr dirty="0" err="1"/>
              <a:t>maszynowego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/>
              <a:t>Wpływ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lang="pl-PL" dirty="0"/>
              <a:t>m</a:t>
            </a:r>
            <a:r>
              <a:rPr dirty="0" err="1"/>
              <a:t>odel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2" y="2213089"/>
            <a:ext cx="7704667" cy="3332816"/>
          </a:xfrm>
        </p:spPr>
        <p:txBody>
          <a:bodyPr>
            <a:normAutofit/>
          </a:bodyPr>
          <a:lstStyle/>
          <a:p>
            <a:r>
              <a:rPr dirty="0" err="1"/>
              <a:t>Zastosowanie</a:t>
            </a:r>
            <a:r>
              <a:rPr dirty="0"/>
              <a:t> </a:t>
            </a:r>
            <a:r>
              <a:rPr dirty="0" err="1"/>
              <a:t>kodowania</a:t>
            </a:r>
            <a:r>
              <a:rPr dirty="0"/>
              <a:t> One-Hot Encoding do </a:t>
            </a:r>
            <a:r>
              <a:rPr dirty="0" err="1"/>
              <a:t>przekształcenia</a:t>
            </a:r>
            <a:r>
              <a:rPr dirty="0"/>
              <a:t> </a:t>
            </a:r>
            <a:r>
              <a:rPr dirty="0" err="1"/>
              <a:t>nazw</a:t>
            </a:r>
            <a:r>
              <a:rPr dirty="0"/>
              <a:t> </a:t>
            </a:r>
            <a:r>
              <a:rPr dirty="0" err="1"/>
              <a:t>krajów</a:t>
            </a:r>
            <a:endParaRPr lang="pl-PL" dirty="0"/>
          </a:p>
          <a:p>
            <a:r>
              <a:rPr dirty="0" err="1"/>
              <a:t>Wdrożenie</a:t>
            </a:r>
            <a:r>
              <a:rPr dirty="0"/>
              <a:t> </a:t>
            </a:r>
            <a:r>
              <a:rPr dirty="0" err="1"/>
              <a:t>dynamicznego</a:t>
            </a:r>
            <a:r>
              <a:rPr dirty="0"/>
              <a:t> </a:t>
            </a:r>
            <a:r>
              <a:rPr dirty="0" err="1"/>
              <a:t>indeksowania</a:t>
            </a:r>
            <a:r>
              <a:rPr dirty="0"/>
              <a:t> (.reindex()), </a:t>
            </a:r>
            <a:r>
              <a:rPr dirty="0" err="1"/>
              <a:t>zabezpieczającego</a:t>
            </a:r>
            <a:r>
              <a:rPr dirty="0"/>
              <a:t> model </a:t>
            </a:r>
            <a:r>
              <a:rPr dirty="0" err="1"/>
              <a:t>przed</a:t>
            </a:r>
            <a:r>
              <a:rPr dirty="0"/>
              <a:t> </a:t>
            </a:r>
            <a:r>
              <a:rPr dirty="0" err="1"/>
              <a:t>błędem</a:t>
            </a:r>
            <a:r>
              <a:rPr dirty="0"/>
              <a:t> </a:t>
            </a:r>
            <a:r>
              <a:rPr dirty="0" err="1"/>
              <a:t>nowości</a:t>
            </a:r>
            <a:r>
              <a:rPr dirty="0"/>
              <a:t>.</a:t>
            </a:r>
          </a:p>
          <a:p>
            <a:r>
              <a:rPr dirty="0"/>
              <a:t>Model </a:t>
            </a:r>
            <a:r>
              <a:rPr dirty="0" err="1"/>
              <a:t>potrafi</a:t>
            </a:r>
            <a:r>
              <a:rPr dirty="0"/>
              <a:t> </a:t>
            </a:r>
            <a:r>
              <a:rPr dirty="0" err="1"/>
              <a:t>teraz</a:t>
            </a:r>
            <a:r>
              <a:rPr dirty="0"/>
              <a:t> </a:t>
            </a:r>
            <a:r>
              <a:rPr lang="pl-PL" dirty="0"/>
              <a:t>lepiej rozróżniać zaawansowane </a:t>
            </a:r>
            <a:r>
              <a:rPr dirty="0" err="1"/>
              <a:t>zależności</a:t>
            </a:r>
            <a:r>
              <a:rPr dirty="0"/>
              <a:t> (np. tempo + </a:t>
            </a:r>
            <a:r>
              <a:rPr dirty="0" err="1"/>
              <a:t>preferencja</a:t>
            </a:r>
            <a:r>
              <a:rPr dirty="0"/>
              <a:t> </a:t>
            </a:r>
            <a:r>
              <a:rPr dirty="0" err="1"/>
              <a:t>regionu</a:t>
            </a:r>
            <a:r>
              <a:rPr dirty="0"/>
              <a:t>).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EBEBEB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Parallax</Template>
  <TotalTime>9</TotalTime>
  <Words>141</Words>
  <Application>Microsoft Office PowerPoint</Application>
  <PresentationFormat>On-screen Show (4:3)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Corbel</vt:lpstr>
      <vt:lpstr>Parallax</vt:lpstr>
      <vt:lpstr>Rozbudowa Systemu Rekomendacji Muzycznych Spotify (Iteracja 2)</vt:lpstr>
      <vt:lpstr>Dodatkowe dane z MusicBrainz</vt:lpstr>
      <vt:lpstr>Wpływ na model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Wojciech Kaczmarek</cp:lastModifiedBy>
  <cp:revision>6</cp:revision>
  <dcterms:created xsi:type="dcterms:W3CDTF">2013-01-27T09:14:16Z</dcterms:created>
  <dcterms:modified xsi:type="dcterms:W3CDTF">2026-06-10T15:07:24Z</dcterms:modified>
  <cp:category/>
</cp:coreProperties>
</file>